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657600"/>
            <a:ext cx="10058400" cy="10058400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-3657600"/>
            <a:ext cx="10972800" cy="10972800"/>
          </a:xfrm>
          <a:prstGeom prst="ellipse">
            <a:avLst/>
          </a:prstGeom>
          <a:solidFill>
            <a:srgbClr val="4F46E5">
              <a:alpha val="4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743200"/>
            <a:ext cx="8229600" cy="8229600"/>
          </a:xfrm>
          <a:prstGeom prst="ellipse">
            <a:avLst/>
          </a:prstGeom>
          <a:solidFill>
            <a:srgbClr val="C026D3">
              <a:alpha val="30000"/>
            </a:srgbClr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02920"/>
            <a:ext cx="1554480" cy="502920"/>
          </a:xfrm>
          <a:prstGeom prst="roundRect">
            <a:avLst>
              <a:gd name="adj" fmla="val 25455"/>
            </a:avLst>
          </a:prstGeom>
          <a:solidFill>
            <a:srgbClr val="FFFFFF">
              <a:alpha val="2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48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76895" y="594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• النسخة العربية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</a:t>
            </a:r>
            <a:endParaRPr lang="en-US" sz="110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نسدّ فجوة المفردات. صفّاً تلو الآخر.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تعلّم للمدارس في البلاد — مبنيّة خصّيصاً لمعلّمي اللغة الإنجليزية، متوافقة مع منهاج وزارة المعارف، مع واجهة وترجمة بالإنجليزية والعربية والعبرية.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878263" y="5532120"/>
            <a:ext cx="176479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8263" y="5577840"/>
            <a:ext cx="1764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6,482 مفردة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7751" y="55321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7751" y="5577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نمط لعب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38367" y="5532120"/>
            <a:ext cx="176479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8367" y="5577840"/>
            <a:ext cx="1764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2.0 AA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95751" y="5532120"/>
            <a:ext cx="2478024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5751" y="5577840"/>
            <a:ext cx="2478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+ التعديل 13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www.vocaband.com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85455" y="6263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المدرسة • 5–7 دقائق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991295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الأرقام خلف المنتج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مجرّد تطبيق — </a:t>
            </a:r>
            <a:pPr algn="r" indent="0" marL="0">
              <a:buNone/>
            </a:pPr>
            <a:r>
              <a:rPr lang="en-US" sz="3600" b="1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تعليميّة كاملة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052331" y="2331720"/>
            <a:ext cx="2682164" cy="1554480"/>
          </a:xfrm>
          <a:prstGeom prst="roundRect">
            <a:avLst>
              <a:gd name="adj" fmla="val 10588"/>
            </a:avLst>
          </a:prstGeom>
          <a:solidFill>
            <a:srgbClr val="F0FDFA"/>
          </a:solidFill>
          <a:ln w="9525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211" y="2423160"/>
            <a:ext cx="23164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6,482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235211" y="310896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مفردة من منهاج وزارة المعارف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235211" y="347472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1 (4,365) • Set 2 (789) • Set 3 (1,328)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87288" y="2331720"/>
            <a:ext cx="2682164" cy="1554480"/>
          </a:xfrm>
          <a:prstGeom prst="roundRect">
            <a:avLst>
              <a:gd name="adj" fmla="val 10588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0168" y="2423160"/>
            <a:ext cx="23164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70168" y="310896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نمط لعب وتمرين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70168" y="347472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تنوّع يقتل الملل — على نفس قائمة المفردات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22244" y="2331720"/>
            <a:ext cx="2682164" cy="1554480"/>
          </a:xfrm>
          <a:prstGeom prst="roundRect">
            <a:avLst>
              <a:gd name="adj" fmla="val 10588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5124" y="2423160"/>
            <a:ext cx="23164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505124" y="310896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لغات للواجهة والترجمة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5124" y="347472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الإنجليزية • العربية • العبرية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2682164" cy="1554480"/>
          </a:xfrm>
          <a:prstGeom prst="roundRect">
            <a:avLst>
              <a:gd name="adj" fmla="val 10588"/>
            </a:avLst>
          </a:prstGeom>
          <a:solidFill>
            <a:srgbClr val="FFF1F2"/>
          </a:solidFill>
          <a:ln w="9525">
            <a:solidFill>
              <a:srgbClr val="FBC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423160"/>
            <a:ext cx="23164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امتثال WCAG 2.0 AA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جميع المعايير الـ 38 — متاح لكل طالب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11277295" cy="2194560"/>
          </a:xfrm>
          <a:prstGeom prst="roundRect">
            <a:avLst>
              <a:gd name="adj" fmla="val 7500"/>
            </a:avLst>
          </a:prstGeom>
          <a:solidFill>
            <a:srgbClr val="FFF1F2"/>
          </a:solidFill>
          <a:ln w="9525">
            <a:solidFill>
              <a:srgbClr val="FBCF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المشكلة — لن تَزول من تلقاء نفسها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387023" y="491032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46320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طلّاب الصفّ التاسع يُنهون السنة برصيد مفردات بمستوى الصفّ السادس.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387023" y="5340096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276088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فروق ضخمة داخل الصفّ الواحد — بعضهم يقرأ بطلاقة وآخرون يتعثّرون في الأحرف.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1387023" y="5769864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705856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يملك المعلّم/ة وقتاً كافياً لتقديم تمرين فرديّ لـ 30 طالباً في الحصّة ذاتها.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387023" y="6199632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135624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الواجبات البيتيّة في المفردات تَضيع بين الأوراق — لا أحد يتابعها أو يصحّحها.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 — مفردات مصمّمة لصفوف المدارس في إسرائيل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991295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للطالب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تمرينٌ </a:t>
            </a:r>
            <a:pPr algn="r" indent="0" marL="0">
              <a:buNone/>
            </a:pPr>
            <a:r>
              <a:rPr lang="en-US" sz="3600" b="1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يرغبون</a:t>
            </a:r>
            <a:pPr algn="r" indent="0" marL="0">
              <a:buNone/>
            </a:pPr>
            <a:r>
              <a:rPr lang="en-US" sz="36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في القيام به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نمط لعب مختلف على نفس قائمة المفردات. الطالب لا يَملّ، والمعلّم لا يُكرّر نفسه.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10710" y="27889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10710" y="28346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10710" y="32004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 تعليميّة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22332" y="27889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22332" y="28346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22332" y="32004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من متعدّد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33955" y="27889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33955" y="28346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33955" y="32004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اِملأ الفراغ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5577" y="27889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5577" y="28346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5577" y="32004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الاستماع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346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التهجئة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10710" y="37033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10710" y="37490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10710" y="41148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22332" y="37033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22332" y="37490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22332" y="41148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لعبة الذاكرة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33955" y="37033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33955" y="37490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33955" y="41148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صواب / خطأ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5577" y="37033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5577" y="37490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745577" y="41148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خَلط الحروف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7033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490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↩️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الترجمة المعكوسة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10710" y="46177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10710" y="46634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🔠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610710" y="50292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أصوات الحروف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22332" y="46177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22332" y="46634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322332" y="50292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الجملة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33955" y="46177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33955" y="46634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033955" y="50292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سلاسل الكلمات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5577" y="46177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5577" y="46634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2745577" y="50292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التعابير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4617720"/>
            <a:ext cx="2123785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99F6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663440"/>
            <a:ext cx="21237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57200" y="5029200"/>
            <a:ext cx="21237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الجولة السريعة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5486400"/>
            <a:ext cx="11277295" cy="914400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 نظام دافعيّة حقيقي — وليس مجرّد نقاط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شخصيّة • 11 سمة ألوان • حيوان أليف يتطوّر عبر 8 مراحل • 4 رحلات تقدّم • 8 رتب وألقاب • سلاسل أيّام يوميّة • مضاعفات XP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 — مفردات مصمّمة لصفوف المدارس في إسرائيل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991295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للمعلّم/ة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عملٌ أقل. </a:t>
            </a:r>
            <a:pPr algn="r" indent="0" marL="0">
              <a:buNone/>
            </a:pPr>
            <a:r>
              <a:rPr lang="en-US" sz="3600" b="1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تدريسٌ أكثر.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1277295" cy="2468880"/>
          </a:xfrm>
          <a:prstGeom prst="roundRect">
            <a:avLst>
              <a:gd name="adj" fmla="val 6667"/>
            </a:avLst>
          </a:prstGeom>
          <a:solidFill>
            <a:srgbClr val="FDF4FF"/>
          </a:solidFill>
          <a:ln w="9525">
            <a:solidFill>
              <a:srgbClr val="F5D0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جديد في 2026 — ميّزات أطلقناها هذا العام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926601" y="2880360"/>
            <a:ext cx="262501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D0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94415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18041" y="2953512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كاميرا OCR لأوراق العمل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18041" y="3291840"/>
            <a:ext cx="2442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صوّروا الورقة، التطبيق يستخرج الكلمات تلقائيّاً.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4428" y="2880360"/>
            <a:ext cx="262501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D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2241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55868" y="2953512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نتائج الواجبات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55868" y="3291840"/>
            <a:ext cx="2442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أرسلوا واجباً برمز QR، وشاهدوا الإجابات مباشرة.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02254" y="2880360"/>
            <a:ext cx="262501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D0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0068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93694" y="2953512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جمل بالذكاء الاصطناعيّ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93694" y="3291840"/>
            <a:ext cx="2442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يُنتج جُمل اِملأ الفراغ لكل مفردة.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2880360"/>
            <a:ext cx="262501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D0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894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2953512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المراجعة الذكيّة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291840"/>
            <a:ext cx="2442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 يُعيد للطالب المفردات المنسيّة في الوقت المناسب.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26601" y="3886200"/>
            <a:ext cx="262501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D0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94415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18041" y="3959352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دقيقة الصفّ اليوميّة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18041" y="4297680"/>
            <a:ext cx="2442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خاطف 60 ثانية يُفعَّل ببداية الحصّة.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64428" y="3886200"/>
            <a:ext cx="262501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D0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2241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55868" y="3959352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Seat — جهاز واحد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55868" y="4297680"/>
            <a:ext cx="2442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هاتف واحد يدور بين الطلّاب — للصفوف بلا أجهزة.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02254" y="3886200"/>
            <a:ext cx="262501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D0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0068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493694" y="3959352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شهادات PDF قابلة للطباعة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93694" y="4297680"/>
            <a:ext cx="2442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شهادة فرديّة لكل طالب — كم كلمة أتقن.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3886200"/>
            <a:ext cx="262501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D0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07894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31520" y="3959352"/>
            <a:ext cx="21220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مشاركة الواجب عبر واتساب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4297680"/>
            <a:ext cx="24421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زرّ مباشر يُرسل الرابط إلى أولياء الأمور.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937760"/>
            <a:ext cx="11277295" cy="960120"/>
          </a:xfrm>
          <a:prstGeom prst="roundRect">
            <a:avLst>
              <a:gd name="adj" fmla="val 17143"/>
            </a:avLst>
          </a:prstGeom>
          <a:solidFill>
            <a:srgbClr val="F0FDFA"/>
          </a:solidFill>
          <a:ln w="9525">
            <a:solidFill>
              <a:srgbClr val="CCFB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01091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روتين المعلّم اليوميّ — ما الذي يُنجزه التطبيق بدلاً منكم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5376672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صفّ في أقلّ من دقيقة • تصحيح آليّ للواجبات • Quick Play بـ QR • تحدٍّ حيّ على الشاشة • تقارير تقدّم لكلّ طالب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6035040"/>
            <a:ext cx="11277295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026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60807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i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"بدلاً من تصحيح 30 دفتراً في المساء — أرى في 10 ثوانٍ من يحتاج المساعدة ومن جاهز للامتحان."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 — مفردات مصمّمة لصفوف المدارس في إسرائيل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991295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والامتثال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أمان وخصوصيّة </a:t>
            </a:r>
            <a:pPr algn="r" indent="0" marL="0">
              <a:buNone/>
            </a:pPr>
            <a:r>
              <a:rPr lang="en-US" sz="3600" b="1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مستوى المؤسّسات.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كلّ سطر بياناتٍ يُولَد في Vocaband يخضع لمنظومة حماية مبنيّة منذ اليوم الأوّل — مستضافة في الاتحاد الأوروبيّ، مع اختبارات اختراق دوريّة وامتثال كامل للقانون الإسرائيليّ.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2971800"/>
            <a:ext cx="5501488" cy="3383280"/>
          </a:xfrm>
          <a:prstGeom prst="roundRect">
            <a:avLst>
              <a:gd name="adj" fmla="val 4865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5888" y="3063240"/>
            <a:ext cx="513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الأمان والخصوصيّة وإتاحة الوصول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387023" y="358444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5888" y="3520440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الاستضافة في أوروبا (فرانكفورت) — امتثال كامل لـ GDPR.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387023" y="4005072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5888" y="3941064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قانون حماية الخصوصيّة الإسرائيليّ + التعديل 13 (2025).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387023" y="4425696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5888" y="4361688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2.0 AA — جميع المعايير الـ 38 (يشمل عُسر القراءة).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387023" y="484632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5888" y="4782312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تشفير TLS 1.2+ • تصنيف CSP A+ • Row-Level Security.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387023" y="5266944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5888" y="5202936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سجلّ تدقيق (Audit Log) مع حفظٍ لمدّة سنتين.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387023" y="568756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5888" y="5623560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اختبارات اختراق دوريّة — بدون إعلانات أو بيع بيانات.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5501488" cy="3383280"/>
          </a:xfrm>
          <a:prstGeom prst="roundRect">
            <a:avLst>
              <a:gd name="adj" fmla="val 4865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063240"/>
            <a:ext cx="513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📑  بيانات شفّافة للتقارير الرسميّة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11216" y="358444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20440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تقدّم موضوعيّة — جاهزة للعرض على أولياء الأمور والمفتّشين.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11216" y="4005072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41064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اكتشاف مبكر للطلّاب المعرّضين للتأخّر قبل وقتٍ طويل من الامتحانات القُطريّة (מיצ"ב / מפ"ה).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11216" y="4425696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361688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لكل تقرير بصيغة PDF يمكن إرفاقها بملفّ الطالب.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11216" y="484632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782312"/>
            <a:ext cx="486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دون إعلانات. دون مشاركة بيانات مع طرف ثالث.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 — مفردات مصمّمة لصفوف المدارس في إسرائيل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991295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التالية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الإنجليزيّة اليوم. </a:t>
            </a:r>
            <a:pPr algn="r" indent="0" marL="0">
              <a:buNone/>
            </a:pPr>
            <a:r>
              <a:rPr lang="en-US" sz="3600" b="1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كلّ مادّة غداً.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Vocaband مبنيّ على بنية تحتيّة تدعم أيّ مادّة تتطلّب الحفظ والاستيعاب. اليوم نفسه، التحليلات تُميّز بين المواد المختلفة داخل الصفّ الواحد.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3017520"/>
            <a:ext cx="5501488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15888" y="3108960"/>
            <a:ext cx="513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صيف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15888" y="3429000"/>
            <a:ext cx="513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Lesson Builder — درس كامل من موضوع واحد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501488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513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خريف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513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العبريّة كلغة ثانية — للناطقين بالعربيّة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4069080"/>
            <a:ext cx="5501488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415888" y="4160520"/>
            <a:ext cx="513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خريف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15888" y="4480560"/>
            <a:ext cx="513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العربيّة — للناطقين بالعبريّة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5501488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40080" y="4160520"/>
            <a:ext cx="513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شتاء 2027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513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مفردات العلوم، التاريخ، والدراسات الدينيّة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11277295" cy="13716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206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Lesson Builder — ما هو؟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يُدخل المعلّم/ة موضوعاً ("Renewable Energy")، فيُنتج النظام: قائمة مفردات مناسبة للمستوى ← نصّ قراءة ← أسئلة فَهم ← تمرين في كل أنماط اللعب. 15 دقيقة من التحضير تتحوّل إلى 30 ثانية.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 — مفردات مصمّمة لصفوف المدارس في إسرائيل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Vocaband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991295" y="2926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77295" cy="228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هيّا نبدأ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772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ابدأوا اليوم. </a:t>
            </a:r>
            <a:pPr algn="r" indent="0" marL="0">
              <a:buNone/>
            </a:pPr>
            <a:r>
              <a:rPr lang="en-US" sz="3600" b="1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خلال 60 ثانية.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77295" cy="1691640"/>
          </a:xfrm>
          <a:prstGeom prst="roundRect">
            <a:avLst>
              <a:gd name="adj" fmla="val 9730"/>
            </a:avLst>
          </a:prstGeom>
          <a:solidFill>
            <a:srgbClr val="F0FDFA"/>
          </a:solidFill>
          <a:ln w="9525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كيف نبدأ — 3 خطوات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387023" y="294436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لقاء أوّل (15 دقيقة) — نختار معاً معلّماً/ةً واحدة وصفّاً واحداً.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387023" y="338328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19272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الإعداد (10 دقائق) — نُنشئ الصفّ معكم، ونرفع قائمة المفردات الأولى.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387023" y="3822192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58184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الانطلاق داخل الصفّ — يبدأ المعلّم/ة العمل، ونحن إلى جانبكم لأيّ سؤال.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1277295" cy="1417320"/>
          </a:xfrm>
          <a:prstGeom prst="roundRect">
            <a:avLst>
              <a:gd name="adj" fmla="val 11613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51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 ماذا تحتاج المدرسة؟ الحدّ الأدنى فقط: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387023" y="468172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617720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اتّصال إنترنت عاديّ. لا حاجة إلى تنزيل أو تثبيت — التطبيق يعمل في المتصفّح.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387023" y="5102352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038344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هاتف / لوحيّ / حاسوب لكلّ طالب (يعمل بشكل ممتاز حتّى في ثنائيّات).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387023" y="5522976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58968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1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دقائق من المعلّم/ة لإنشاء الصفّ الأوّل. هذا كلّ ما يلزم.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715000"/>
            <a:ext cx="11277295" cy="777240"/>
          </a:xfrm>
          <a:prstGeom prst="roundRect">
            <a:avLst>
              <a:gd name="adj" fmla="val 2117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5715000"/>
            <a:ext cx="11277295" cy="777240"/>
          </a:xfrm>
          <a:prstGeom prst="roundRect">
            <a:avLst>
              <a:gd name="adj" fmla="val 21176"/>
            </a:avLst>
          </a:prstGeom>
          <a:solidFill>
            <a:srgbClr val="C026D3">
              <a:alpha val="40000"/>
            </a:srgbClr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779008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www.vocaband.com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" y="61996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افتحوا الموقع ← سجّلوا الدخول كمعلّم ← أنشئوا الصفّ ← خلال 60 ثانية تكونون جاهزين للحصّة الأولى.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Vocaband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Vocaband — عرض تقديمي للمدارس</dc:title>
  <dc:subject>School pitch deck (Arabic)</dc:subject>
  <dc:creator>Vocaband</dc:creator>
  <cp:lastModifiedBy>Vocaband</cp:lastModifiedBy>
  <cp:revision>1</cp:revision>
  <dcterms:created xsi:type="dcterms:W3CDTF">2026-05-15T18:39:57Z</dcterms:created>
  <dcterms:modified xsi:type="dcterms:W3CDTF">2026-05-15T18:39:57Z</dcterms:modified>
</cp:coreProperties>
</file>