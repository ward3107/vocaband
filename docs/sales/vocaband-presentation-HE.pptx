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8000" y="0"/>
            <a:ext cx="406800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36000" y="0"/>
            <a:ext cx="4068000" cy="6858000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288000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DejaVu Sans"/>
              </a:rPr>
              <a:t>VOCABAND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340000"/>
            <a:ext cx="11160000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Noto Sans Hebrew"/>
              </a:rPr>
              <a:t>האפליקציה שתלמידים רוצים לפתוח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240000"/>
            <a:ext cx="11160000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Noto Sans Hebrew"/>
              </a:rPr>
              <a:t>פלטפורמה דיגיטלית לרכישת אוצר מילים באנגלית — בנויה לכיתה הישראלית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5220000"/>
            <a:ext cx="2880000" cy="43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5220000"/>
            <a:ext cx="2880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4F46E5"/>
                </a:solidFill>
                <a:latin typeface="Noto Sans Hebrew"/>
              </a:rPr>
              <a:t>מצגת לבתי ספר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12119" y="0"/>
            <a:ext cx="180000" cy="6858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666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1">
                <a:solidFill>
                  <a:srgbClr val="F43F5E"/>
                </a:solidFill>
                <a:latin typeface="Noto Sans Hebrew"/>
              </a:rPr>
              <a:t>הבעיה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0" y="6660000"/>
            <a:ext cx="30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DejaVu Sans"/>
              </a:rPr>
              <a:t>2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44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43F5E"/>
                </a:solidFill>
                <a:latin typeface="DejaVu Sans"/>
              </a:rPr>
              <a:t>VOCABAND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503999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>
                <a:solidFill>
                  <a:srgbClr val="F43F5E"/>
                </a:solidFill>
                <a:latin typeface="Noto Sans Hebrew"/>
              </a:rPr>
              <a:t>01 · הבעיה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756000"/>
            <a:ext cx="115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Noto Sans Hebrew"/>
              </a:rPr>
              <a:t>תלמיד כיתה ט' באוצר מילים של כיתה ו'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8059" y="1980000"/>
            <a:ext cx="3600000" cy="3240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08059" y="1980000"/>
            <a:ext cx="3600000" cy="144000"/>
          </a:xfrm>
          <a:prstGeom prst="round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8059" y="2304000"/>
            <a:ext cx="3240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000" b="1">
                <a:solidFill>
                  <a:srgbClr val="0F172A"/>
                </a:solidFill>
                <a:latin typeface="Noto Sans Hebrew"/>
              </a:rPr>
              <a:t>שכחה מהירה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8059" y="2880000"/>
            <a:ext cx="324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00" b="0">
                <a:solidFill>
                  <a:srgbClr val="475569"/>
                </a:solidFill>
                <a:latin typeface="Noto Sans Hebrew"/>
              </a:rPr>
              <a:t>תלמידים שוכחים מילים באותו קצב שלומדים אותן. בלי חזרה מגוונת, אוצר מילים מתפוגג תוך שבועות.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6059" y="1980000"/>
            <a:ext cx="3600000" cy="3240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6059" y="1980000"/>
            <a:ext cx="3600000" cy="1440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6059" y="2304000"/>
            <a:ext cx="3240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000" b="1">
                <a:solidFill>
                  <a:srgbClr val="0F172A"/>
                </a:solidFill>
                <a:latin typeface="Noto Sans Hebrew"/>
              </a:rPr>
              <a:t>פערים בכיתה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6059" y="2880000"/>
            <a:ext cx="324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00" b="0">
                <a:solidFill>
                  <a:srgbClr val="475569"/>
                </a:solidFill>
                <a:latin typeface="Noto Sans Hebrew"/>
              </a:rPr>
              <a:t>באותה כיתה — חלק קוראים שוטף, חלק עדיין מתקשים. שיעור אחד לא מתאים ל-30 רמות שונות.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4059" y="1980000"/>
            <a:ext cx="3600000" cy="3240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84059" y="1980000"/>
            <a:ext cx="3600000" cy="1440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4059" y="2304000"/>
            <a:ext cx="3240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000" b="1">
                <a:solidFill>
                  <a:srgbClr val="0F172A"/>
                </a:solidFill>
                <a:latin typeface="Noto Sans Hebrew"/>
              </a:rPr>
              <a:t>עומס על המורה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4059" y="2880000"/>
            <a:ext cx="324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00" b="0">
                <a:solidFill>
                  <a:srgbClr val="475569"/>
                </a:solidFill>
                <a:latin typeface="Noto Sans Hebrew"/>
              </a:rPr>
              <a:t>אין זמן ואין כלים לתת תרגול אישי ולעקוב אחר כל תלמיד בנפרד.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12119" y="0"/>
            <a:ext cx="180000" cy="6858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666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1">
                <a:solidFill>
                  <a:srgbClr val="F43F5E"/>
                </a:solidFill>
                <a:latin typeface="Noto Sans Hebrew"/>
              </a:rPr>
              <a:t>הבעיה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0" y="6660000"/>
            <a:ext cx="30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DejaVu Sans"/>
              </a:rPr>
              <a:t>3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44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43F5E"/>
                </a:solidFill>
                <a:latin typeface="DejaVu Sans"/>
              </a:rPr>
              <a:t>VOCABAND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503999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>
                <a:solidFill>
                  <a:srgbClr val="F43F5E"/>
                </a:solidFill>
                <a:latin typeface="Noto Sans Hebrew"/>
              </a:rPr>
              <a:t>02 · המצב היום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756000"/>
            <a:ext cx="115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Noto Sans Hebrew"/>
              </a:rPr>
              <a:t>שיטות הלמידה הישנות כבר לא עובדות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1980000"/>
            <a:ext cx="11520000" cy="1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2070000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F43F5E"/>
                </a:solidFill>
                <a:latin typeface="Noto Sans Hebrew"/>
              </a:rPr>
              <a:t>חוברות תרגול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2376000"/>
            <a:ext cx="11520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Noto Sans Hebrew"/>
              </a:rPr>
              <a:t>ילד שמשלים דף מילים פעם בשבוע — שוכח 70% תוך חודש. תרגול לא מגוון לא נשמר בזיכרון.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00" y="2987999"/>
            <a:ext cx="11520000" cy="1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00" y="3077999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F43F5E"/>
                </a:solidFill>
                <a:latin typeface="Noto Sans Hebrew"/>
              </a:rPr>
              <a:t>שינון בעל-פה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" y="3383999"/>
            <a:ext cx="11520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Noto Sans Hebrew"/>
              </a:rPr>
              <a:t>עובד אצל ילד אחד מתוך עשרה. השאר מתחילים לשנוא את השפה.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" y="3995998"/>
            <a:ext cx="11520000" cy="1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00" y="4085998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F43F5E"/>
                </a:solidFill>
                <a:latin typeface="Noto Sans Hebrew"/>
              </a:rPr>
              <a:t>מבחנים בלבד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" y="4391998"/>
            <a:ext cx="11520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Noto Sans Hebrew"/>
              </a:rPr>
              <a:t>מודדים מה התלמיד יודע ביום המבחן — לא מה הוא ידע באמת ובאיזה קצב למד.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00" y="5003997"/>
            <a:ext cx="11520000" cy="1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00" y="5093997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F43F5E"/>
                </a:solidFill>
                <a:latin typeface="Noto Sans Hebrew"/>
              </a:rPr>
              <a:t>אפליקציות זרות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00" y="5399997"/>
            <a:ext cx="11520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Noto Sans Hebrew"/>
              </a:rPr>
              <a:t>מתאימות לתלמיד שכבר יודע אנגלית. לתלמיד שמתחיל מאפס — הן רק מתסכלות.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12119" y="0"/>
            <a:ext cx="18000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666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1">
                <a:solidFill>
                  <a:srgbClr val="8B5CF6"/>
                </a:solidFill>
                <a:latin typeface="Noto Sans Hebrew"/>
              </a:rPr>
              <a:t>על מה זה בנוי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0" y="6660000"/>
            <a:ext cx="30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DejaVu Sans"/>
              </a:rPr>
              <a:t>4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44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5CF6"/>
                </a:solidFill>
                <a:latin typeface="DejaVu Sans"/>
              </a:rPr>
              <a:t>VOCABAND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503999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>
                <a:solidFill>
                  <a:srgbClr val="8B5CF6"/>
                </a:solidFill>
                <a:latin typeface="Noto Sans Hebrew"/>
              </a:rPr>
              <a:t>03 · היסודות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756000"/>
            <a:ext cx="115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Noto Sans Hebrew"/>
              </a:rPr>
              <a:t>שלושת העקרונות שעליהם הפלטפורמה בנויה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8059" y="1908000"/>
            <a:ext cx="3600000" cy="34200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16059" y="2124000"/>
            <a:ext cx="576000" cy="57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16059" y="2124000"/>
            <a:ext cx="576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4F46E5"/>
                </a:solidFill>
                <a:latin typeface="DejaVu San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059" y="2915999"/>
            <a:ext cx="3168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Noto Sans Hebrew"/>
              </a:rPr>
              <a:t>מדע הלמידה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059" y="3456000"/>
            <a:ext cx="3168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400" b="0">
                <a:solidFill>
                  <a:srgbClr val="FFFFFF"/>
                </a:solidFill>
                <a:latin typeface="Noto Sans Hebrew"/>
              </a:rPr>
              <a:t>חזרה מרווחת (Spaced Repetition) + גיוון בתרגול. אותן מילים, 15 דרכים שונות לתרגל אותן.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6059" y="1908000"/>
            <a:ext cx="3600000" cy="3420000"/>
          </a:xfrm>
          <a:prstGeom prst="round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04059" y="2124000"/>
            <a:ext cx="576000" cy="57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4059" y="2124000"/>
            <a:ext cx="576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D946EF"/>
                </a:solidFill>
                <a:latin typeface="DejaVu San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2059" y="2915999"/>
            <a:ext cx="3168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Noto Sans Hebrew"/>
              </a:rPr>
              <a:t>עיצוב משחקי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2059" y="3456000"/>
            <a:ext cx="3168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400" b="0">
                <a:solidFill>
                  <a:srgbClr val="FFFFFF"/>
                </a:solidFill>
                <a:latin typeface="Noto Sans Hebrew"/>
              </a:rPr>
              <a:t>מוטיבציה פנימית במקום כפיה. נקודות, רצפים, תארים, אווטרים — מנגנונים שמחזיקים תלמיד שעות.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4059" y="1908000"/>
            <a:ext cx="3600000" cy="3420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992059" y="2124000"/>
            <a:ext cx="576000" cy="57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92059" y="2124000"/>
            <a:ext cx="576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0B981"/>
                </a:solidFill>
                <a:latin typeface="DejaVu San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0059" y="2915999"/>
            <a:ext cx="3168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Noto Sans Hebrew"/>
              </a:rPr>
              <a:t>מציאות הכיתה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0059" y="3456000"/>
            <a:ext cx="3168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400" b="0">
                <a:solidFill>
                  <a:srgbClr val="FFFFFF"/>
                </a:solidFill>
                <a:latin typeface="Noto Sans Hebrew"/>
              </a:rPr>
              <a:t>אוטומציה למורה: בדיקה, ציון, משוב. דוחות לכל תלמיד. בלי להוסיף עוד שעה של עבודה.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12119" y="0"/>
            <a:ext cx="18000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666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1">
                <a:solidFill>
                  <a:srgbClr val="8B5CF6"/>
                </a:solidFill>
                <a:latin typeface="Noto Sans Hebrew"/>
              </a:rPr>
              <a:t>על מה זה בנוי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0" y="6660000"/>
            <a:ext cx="30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DejaVu Sans"/>
              </a:rPr>
              <a:t>5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44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5CF6"/>
                </a:solidFill>
                <a:latin typeface="DejaVu Sans"/>
              </a:rPr>
              <a:t>VOCABAND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503999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>
                <a:solidFill>
                  <a:srgbClr val="8B5CF6"/>
                </a:solidFill>
                <a:latin typeface="Noto Sans Hebrew"/>
              </a:rPr>
              <a:t>04 · עיקרון ראשון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756000"/>
            <a:ext cx="115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Noto Sans Hebrew"/>
              </a:rPr>
              <a:t>אותה מילה — 15 דרכים שונות לתרגל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1980000"/>
            <a:ext cx="64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8B5CF6"/>
                </a:solidFill>
                <a:latin typeface="Noto Sans Hebrew"/>
              </a:rPr>
              <a:t>למה זה עובד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2412000"/>
            <a:ext cx="6480000" cy="360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התלמיד פוגש את המילה כקריאה, ככתיבה, כשמיעה ובהקשר משפט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כל מצב משחק מפעיל אזור שונה במוח — הזיכרון מתחזק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המעבר בין משחקים שובר שעמום ושומר על ריכוז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התלמיד לא מרגיש שהוא עושה את אותו דבר שוב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המורה לא צריך/ה להמציא תרגילים חדשים</a:t>
            </a:r>
          </a:p>
        </p:txBody>
      </p:sp>
      <p:pic>
        <p:nvPicPr>
          <p:cNvPr id="12" name="Picture 11" descr="scree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000" y="1800000"/>
            <a:ext cx="3060000" cy="468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12119" y="0"/>
            <a:ext cx="18000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666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1">
                <a:solidFill>
                  <a:srgbClr val="8B5CF6"/>
                </a:solidFill>
                <a:latin typeface="Noto Sans Hebrew"/>
              </a:rPr>
              <a:t>על מה זה בנוי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0" y="6660000"/>
            <a:ext cx="30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DejaVu Sans"/>
              </a:rPr>
              <a:t>6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44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5CF6"/>
                </a:solidFill>
                <a:latin typeface="DejaVu Sans"/>
              </a:rPr>
              <a:t>VOCABAND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503999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>
                <a:solidFill>
                  <a:srgbClr val="D946EF"/>
                </a:solidFill>
                <a:latin typeface="Noto Sans Hebrew"/>
              </a:rPr>
              <a:t>05 · עיקרון שני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756000"/>
            <a:ext cx="115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Noto Sans Hebrew"/>
              </a:rPr>
              <a:t>מוטיבציה פנימית — כי כך התלמיד חוזר מחר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2160000"/>
            <a:ext cx="6480000" cy="39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כל תשובה נכונה משלמת נקודות XP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רצף יומי שמתגמל התמדה, לא רק הצלחה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חנות אווטרים, תארים ופריימים — נרכשים בנקודות בלבד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חיית מחמד שמתפתחת לאורך זמן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תחרויות חיות מול חברים לכיתה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אין פרסומות, אין רכישות בכסף אמיתי, אין לחץ</a:t>
            </a:r>
          </a:p>
        </p:txBody>
      </p:sp>
      <p:pic>
        <p:nvPicPr>
          <p:cNvPr id="11" name="Picture 10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000" y="1800000"/>
            <a:ext cx="3060000" cy="468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12119" y="0"/>
            <a:ext cx="18000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666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1">
                <a:solidFill>
                  <a:srgbClr val="8B5CF6"/>
                </a:solidFill>
                <a:latin typeface="Noto Sans Hebrew"/>
              </a:rPr>
              <a:t>על מה זה בנוי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0" y="6660000"/>
            <a:ext cx="30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DejaVu Sans"/>
              </a:rPr>
              <a:t>7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44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5CF6"/>
                </a:solidFill>
                <a:latin typeface="DejaVu Sans"/>
              </a:rPr>
              <a:t>VOCABAND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503999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>
                <a:solidFill>
                  <a:srgbClr val="10B981"/>
                </a:solidFill>
                <a:latin typeface="Noto Sans Hebrew"/>
              </a:rPr>
              <a:t>06 · עיקרון שלישי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756000"/>
            <a:ext cx="115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Noto Sans Hebrew"/>
              </a:rPr>
              <a:t>אוטומציה למורה — בלי להוסיף שעות עבודה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2160000"/>
            <a:ext cx="11520000" cy="39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500">
                <a:solidFill>
                  <a:srgbClr val="0F172A"/>
                </a:solidFill>
                <a:latin typeface="Noto Sans Hebrew"/>
              </a:rPr>
              <a:t>•  מטלות נבדקות אוטומטית, התלמיד מקבל משוב מיידי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500">
                <a:solidFill>
                  <a:srgbClr val="0F172A"/>
                </a:solidFill>
                <a:latin typeface="Noto Sans Hebrew"/>
              </a:rPr>
              <a:t>•  המערכת מציינת את התלמיד ושומרת היסטוריה מלאה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500">
                <a:solidFill>
                  <a:srgbClr val="0F172A"/>
                </a:solidFill>
                <a:latin typeface="Noto Sans Hebrew"/>
              </a:rPr>
              <a:t>•  דוחות התקדמות נוצרים אוטומטית — לפי תלמיד, לפי כיתה, לפי תקופה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500">
                <a:solidFill>
                  <a:srgbClr val="0F172A"/>
                </a:solidFill>
                <a:latin typeface="Noto Sans Hebrew"/>
              </a:rPr>
              <a:t>•  המורה רואה/ה מי בקושי, מי משתעמם, מי מתקדם — בלי לחפש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500">
                <a:solidFill>
                  <a:srgbClr val="0F172A"/>
                </a:solidFill>
                <a:latin typeface="Noto Sans Hebrew"/>
              </a:rPr>
              <a:t>•  תזכורות אוטומטיות לתלמידים שלא נכנסו השבוע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12119" y="0"/>
            <a:ext cx="18000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666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1">
                <a:solidFill>
                  <a:srgbClr val="4F46E5"/>
                </a:solidFill>
                <a:latin typeface="Noto Sans Hebrew"/>
              </a:rPr>
              <a:t>למורה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0" y="6660000"/>
            <a:ext cx="30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DejaVu Sans"/>
              </a:rPr>
              <a:t>8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44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F46E5"/>
                </a:solidFill>
                <a:latin typeface="DejaVu Sans"/>
              </a:rPr>
              <a:t>VOCABAND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503999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>
                <a:solidFill>
                  <a:srgbClr val="4F46E5"/>
                </a:solidFill>
                <a:latin typeface="Noto Sans Hebrew"/>
              </a:rPr>
              <a:t>07 · למורה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756000"/>
            <a:ext cx="115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Noto Sans Hebrew"/>
              </a:rPr>
              <a:t>פחות בדיקות, יותר הוראה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1980000"/>
            <a:ext cx="648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בניית מטלה בדקה — מילים מוכנות או רשימה משלך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צילום של עמוד מהספר — זיהוי אוטומטי + תרגום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בדיקה אוטומטית של תרגילים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דוחות התקדמות פר תלמיד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Live Challenge — תחרות בזמן אמת על המסך הגדול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Quick Play — פעילות מהירה עם QR, בלי הרשמה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הקראה ותרגום לעברית/ערבית בכל מילה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כניסת תלמידים עם קוד כיתה — בלי תהליך הרשמה מסובך</a:t>
            </a:r>
          </a:p>
        </p:txBody>
      </p:sp>
      <p:pic>
        <p:nvPicPr>
          <p:cNvPr id="11" name="Picture 10" descr="scre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000" y="1800000"/>
            <a:ext cx="3060000" cy="468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12119" y="0"/>
            <a:ext cx="18000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666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1">
                <a:solidFill>
                  <a:srgbClr val="F59E0B"/>
                </a:solidFill>
                <a:latin typeface="Noto Sans Hebrew"/>
              </a:rPr>
              <a:t>לתלמיד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0" y="6660000"/>
            <a:ext cx="30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DejaVu Sans"/>
              </a:rPr>
              <a:t>9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44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59E0B"/>
                </a:solidFill>
                <a:latin typeface="DejaVu Sans"/>
              </a:rPr>
              <a:t>VOCABAND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503999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>
                <a:solidFill>
                  <a:srgbClr val="F59E0B"/>
                </a:solidFill>
                <a:latin typeface="Noto Sans Hebrew"/>
              </a:rPr>
              <a:t>08 · לתלמיד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756000"/>
            <a:ext cx="115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Noto Sans Hebrew"/>
              </a:rPr>
              <a:t>תרגול שמרגיש כמו משחק, לא כמו שיעורי בית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1980000"/>
            <a:ext cx="648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15 מצבי משחק שונים על אותן מילים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נקודות XP, רצפים יומיים, רמות, תארים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חנות פנים-משחק עם אווטרים, פריימים, ערכות צבע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חיית מחמד שמתפתחת לאורך זמן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מנגנוני שימור: תיבת יומית, אתגר שבועי, בונוס חזרה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תחרות חיה מול חברים לכיתה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תרגום מיידי לעברית או ערבית כשנתקעים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הקראה לכל מילה — בהגייה נכונה</a:t>
            </a:r>
          </a:p>
        </p:txBody>
      </p:sp>
      <p:pic>
        <p:nvPicPr>
          <p:cNvPr id="11" name="Picture 10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000" y="1800000"/>
            <a:ext cx="3060000" cy="468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12119" y="0"/>
            <a:ext cx="180000" cy="6858000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666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1">
                <a:solidFill>
                  <a:srgbClr val="D946EF"/>
                </a:solidFill>
                <a:latin typeface="Noto Sans Hebrew"/>
              </a:rPr>
              <a:t>למנהל/ת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0" y="6660000"/>
            <a:ext cx="30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DejaVu Sans"/>
              </a:rPr>
              <a:t>10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44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46EF"/>
                </a:solidFill>
                <a:latin typeface="DejaVu Sans"/>
              </a:rPr>
              <a:t>VOCABAND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503999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>
                <a:solidFill>
                  <a:srgbClr val="D946EF"/>
                </a:solidFill>
                <a:latin typeface="Noto Sans Hebrew"/>
              </a:rPr>
              <a:t>09 · למנהל/ת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756000"/>
            <a:ext cx="115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Noto Sans Hebrew"/>
              </a:rPr>
              <a:t>שליטה, בקרה, נתונים — לא תחושות בטן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1980000"/>
            <a:ext cx="648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לוח בקרה אחד לכל הכיתות בבית הספר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נתונים אובייקטיביים על כל תלמיד וכל כיתה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זיהוי מוקדם של תלמידים בסיכון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דוחות מוכנים להורים ולפיקוח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השוואה בין כיתות ולאורך זמן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פלטפורמה אחת, ללא תוכנה להתקין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ללא פרסומות, ללא רכישות בתוך האפליקציה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Hebrew"/>
              </a:rPr>
              <a:t>•  ניתן להרחבה לכל בית הספר ללא תוספת תשתית</a:t>
            </a:r>
          </a:p>
        </p:txBody>
      </p:sp>
      <p:pic>
        <p:nvPicPr>
          <p:cNvPr id="11" name="Picture 10" descr="scree3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000" y="1800000"/>
            <a:ext cx="3060000" cy="468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12119" y="0"/>
            <a:ext cx="18000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666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1">
                <a:solidFill>
                  <a:srgbClr val="10B981"/>
                </a:solidFill>
                <a:latin typeface="Noto Sans Hebrew"/>
              </a:rPr>
              <a:t>בטיחות ופרטיות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0" y="6660000"/>
            <a:ext cx="30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DejaVu Sans"/>
              </a:rPr>
              <a:t>11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44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0B981"/>
                </a:solidFill>
                <a:latin typeface="DejaVu Sans"/>
              </a:rPr>
              <a:t>VOCABAND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503999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>
                <a:solidFill>
                  <a:srgbClr val="10B981"/>
                </a:solidFill>
                <a:latin typeface="Noto Sans Hebrew"/>
              </a:rPr>
              <a:t>10 · בטיחות ופרטיות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756000"/>
            <a:ext cx="115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Noto Sans Hebrew"/>
              </a:rPr>
              <a:t>תאימות מלאה לחוק הישראלי ולתקן האירופי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2059" y="1980000"/>
            <a:ext cx="5580000" cy="1980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2059" y="1980000"/>
            <a:ext cx="144000" cy="1980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058" y="2231999"/>
            <a:ext cx="5076001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Noto Sans Hebrew"/>
              </a:rPr>
              <a:t>אחסון באירופה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058" y="2772000"/>
            <a:ext cx="5076001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400" b="0">
                <a:solidFill>
                  <a:srgbClr val="475569"/>
                </a:solidFill>
                <a:latin typeface="Noto Sans Hebrew"/>
              </a:rPr>
              <a:t>כל הנתונים מאוחסנים בפרנקפורט. תאימות מלאה ל-GDPR.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0059" y="1980000"/>
            <a:ext cx="5580000" cy="1980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40059" y="1980000"/>
            <a:ext cx="144000" cy="1980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058" y="2231999"/>
            <a:ext cx="5076001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Noto Sans Hebrew"/>
              </a:rPr>
              <a:t>חוק הגנת הפרטיות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058" y="2772000"/>
            <a:ext cx="5076001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400" b="0">
                <a:solidFill>
                  <a:srgbClr val="475569"/>
                </a:solidFill>
                <a:latin typeface="Noto Sans Hebrew"/>
              </a:rPr>
              <a:t>עומדים בחוק הגנת הפרטיות הישראלי ובתיקון 13.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2059" y="4248000"/>
            <a:ext cx="5580000" cy="1980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72059" y="4248000"/>
            <a:ext cx="144000" cy="1980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058" y="4499999"/>
            <a:ext cx="5076001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Noto Sans Hebrew"/>
              </a:rPr>
              <a:t>ללא פרסומות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058" y="5040000"/>
            <a:ext cx="5076001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400" b="0">
                <a:solidFill>
                  <a:srgbClr val="475569"/>
                </a:solidFill>
                <a:latin typeface="Noto Sans Hebrew"/>
              </a:rPr>
              <a:t>אין פרסומות, אין צד שלישי, אין מכירת נתונים.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059" y="4248000"/>
            <a:ext cx="5580000" cy="1980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40059" y="4248000"/>
            <a:ext cx="144000" cy="1980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058" y="4499999"/>
            <a:ext cx="5076001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Noto Sans Hebrew"/>
              </a:rPr>
              <a:t>בדיקות חדירה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058" y="5040000"/>
            <a:ext cx="5076001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400" b="0">
                <a:solidFill>
                  <a:srgbClr val="475569"/>
                </a:solidFill>
                <a:latin typeface="Noto Sans Hebrew"/>
              </a:rPr>
              <a:t>המערכת נבדקת באופן שוטף בבדיקות חדירה חיצוניות.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12119" y="0"/>
            <a:ext cx="180000" cy="6858000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666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1">
                <a:solidFill>
                  <a:srgbClr val="D946EF"/>
                </a:solidFill>
                <a:latin typeface="Noto Sans Hebrew"/>
              </a:rPr>
              <a:t>החזון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0" y="6660000"/>
            <a:ext cx="30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DejaVu Sans"/>
              </a:rPr>
              <a:t>12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44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46EF"/>
                </a:solidFill>
                <a:latin typeface="DejaVu Sans"/>
              </a:rPr>
              <a:t>VOCABAND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503999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>
                <a:solidFill>
                  <a:srgbClr val="D946EF"/>
                </a:solidFill>
                <a:latin typeface="Noto Sans Hebrew"/>
              </a:rPr>
              <a:t>11 · החזון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756000"/>
            <a:ext cx="115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Noto Sans Hebrew"/>
              </a:rPr>
              <a:t>אנגלית היום — כל מקצוע שדורש שינון, מחר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1980000"/>
            <a:ext cx="115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800" b="0">
                <a:solidFill>
                  <a:srgbClr val="475569"/>
                </a:solidFill>
                <a:latin typeface="Noto Sans Hebrew"/>
              </a:rPr>
              <a:t>המנוע שבנינו לאוצר מילים באנגלית מתאים לכל תחום שדורש שינון והפנמה.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00" y="3240000"/>
            <a:ext cx="11520000" cy="4680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00" y="3240000"/>
            <a:ext cx="11520000" cy="4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Noto Sans Hebrew"/>
              </a:rPr>
              <a:t>עברית כשפה שנייה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00" y="3798000"/>
            <a:ext cx="11520000" cy="4680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00" y="3798000"/>
            <a:ext cx="11520000" cy="4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Noto Sans Hebrew"/>
              </a:rPr>
              <a:t>ערבית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00" y="4356000"/>
            <a:ext cx="11520000" cy="468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00" y="4356000"/>
            <a:ext cx="11520000" cy="4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Noto Sans Hebrew"/>
              </a:rPr>
              <a:t>אוצר מילים במדעים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00" y="4914000"/>
            <a:ext cx="11520000" cy="4680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00" y="4914000"/>
            <a:ext cx="11520000" cy="4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Noto Sans Hebrew"/>
              </a:rPr>
              <a:t>מושגים בהיסטוריה ובתנ"ך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00" y="5472000"/>
            <a:ext cx="11520000" cy="468000"/>
          </a:xfrm>
          <a:prstGeom prst="round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00" y="5472000"/>
            <a:ext cx="11520000" cy="4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Noto Sans Hebrew"/>
              </a:rPr>
              <a:t>שפה שלישית — צרפתית, ספרדית, רוסית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8000" y="0"/>
            <a:ext cx="813600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36000" y="0"/>
            <a:ext cx="4068000" cy="6858000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288000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DejaVu Sans"/>
              </a:rPr>
              <a:t>VOCABAND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980000"/>
            <a:ext cx="11160000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Noto Sans Hebrew"/>
              </a:rPr>
              <a:t>איך מתחילים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3060000"/>
            <a:ext cx="900000" cy="72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3060000"/>
            <a:ext cx="900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4F46E5"/>
                </a:solidFill>
                <a:latin typeface="DejaVu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8000" y="3060000"/>
            <a:ext cx="1008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Noto Sans Hebrew"/>
              </a:rPr>
              <a:t>פגישת היכרות קצרה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8000" y="3420000"/>
            <a:ext cx="10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Noto Sans Hebrew"/>
              </a:rPr>
              <a:t>אנחנו לומדים את בית הספר ואת הצרכים שלכם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000" y="3887999"/>
            <a:ext cx="900000" cy="72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000" y="3887999"/>
            <a:ext cx="900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4F46E5"/>
                </a:solidFill>
                <a:latin typeface="DejaVu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48000" y="3887999"/>
            <a:ext cx="1008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Noto Sans Hebrew"/>
              </a:rPr>
              <a:t>בוחרים כיתה אחת לפיילוט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48000" y="4247999"/>
            <a:ext cx="10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Noto Sans Hebrew"/>
              </a:rPr>
              <a:t>אתם בוחרים מורה, אנחנו מקימים את הכיתה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000" y="4715998"/>
            <a:ext cx="900000" cy="72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0" y="4715998"/>
            <a:ext cx="900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4F46E5"/>
                </a:solidFill>
                <a:latin typeface="DejaVu San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8000" y="4715998"/>
            <a:ext cx="1008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Noto Sans Hebrew"/>
              </a:rPr>
              <a:t>חודש שלם של שימוש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8000" y="5075998"/>
            <a:ext cx="10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Noto Sans Hebrew"/>
              </a:rPr>
              <a:t>ללא התחייבות, ללא תשלום, ליווי צמוד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0000" y="5543997"/>
            <a:ext cx="900000" cy="72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0" y="5543997"/>
            <a:ext cx="900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4F46E5"/>
                </a:solidFill>
                <a:latin typeface="DejaVu San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48000" y="5543997"/>
            <a:ext cx="1008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Noto Sans Hebrew"/>
              </a:rPr>
              <a:t>מחליטים יחד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48000" y="5903997"/>
            <a:ext cx="10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Noto Sans Hebrew"/>
              </a:rPr>
              <a:t>אם זה עובד — מרחיבים. אם לא — לא ממשיכים.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8000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DejaVu Sans"/>
              </a:rPr>
              <a:t>VOCABAND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520000"/>
            <a:ext cx="11160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7200" b="1">
                <a:solidFill>
                  <a:srgbClr val="FFFFFF"/>
                </a:solidFill>
                <a:latin typeface="Noto Sans Hebrew"/>
              </a:rPr>
              <a:t>תודה.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4140000"/>
            <a:ext cx="11160000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Noto Sans Hebrew"/>
              </a:rPr>
              <a:t>נשמח להראות לכם את המערכת בפגישה קצרה.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4860000"/>
            <a:ext cx="1116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F59E0B"/>
                </a:solidFill>
                <a:latin typeface="DejaVu Sans"/>
              </a:rPr>
              <a:t>www.vocaband.com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