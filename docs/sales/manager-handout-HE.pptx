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0000" cy="1512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16000"/>
            <a:ext cx="6983999" cy="324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DejaVu Sans"/>
              </a:rPr>
              <a:t>VOCABAND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8000" y="503999"/>
            <a:ext cx="6983999" cy="576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Noto Sans Hebrew"/>
              </a:rPr>
              <a:t>שליטה, בקרה, בטיחות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1080000"/>
            <a:ext cx="6983999" cy="3600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FFFFFF"/>
                </a:solidFill>
                <a:latin typeface="Noto Sans Hebrew"/>
              </a:rPr>
              <a:t>Vocaband — פלטפורמה ברמת בית ספר, עם נתונים אובייקטיביים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72000" y="1728000"/>
            <a:ext cx="1800000" cy="306000"/>
          </a:xfrm>
          <a:prstGeom prst="roundRect">
            <a:avLst/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Noto Sans Hebrew"/>
              </a:rPr>
              <a:t>הבעיה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2106000"/>
            <a:ext cx="6983999" cy="21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פערי שפה גדולים מאי-פעם בקרב תלמידים בישראל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אין דרך לאתר תלמידים בסיכון לפני שמאוחר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המורים עמוסים — אין נתונים אובייקטיביים על מה קורה בכיתה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הורים ופיקוח דורשים שקיפות — בלי כלי, אין מה להראות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72000" y="3816000"/>
            <a:ext cx="1800000" cy="306000"/>
          </a:xfrm>
          <a:prstGeom prst="round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Noto Sans Hebrew"/>
              </a:rPr>
              <a:t>על מה זה בנוי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4194000"/>
            <a:ext cx="6983999" cy="21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אותם עקרונות: מדע למידה, גימיפיקציה, אוטומציה למורה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פותח מאפס לבתי ספר בישראל — לא תרגום של מוצר זר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ארכיטקטורת בטיחות מובנית מהיום הראשון — לא טלאי בדיעבד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72000" y="5436000"/>
            <a:ext cx="1800000" cy="3060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Noto Sans Hebrew"/>
              </a:rPr>
              <a:t>מה את/ה מקבל/ת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5813999"/>
            <a:ext cx="6983999" cy="21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לוח בקרה אחד לכל הכיתות בבית הספר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נתונים אובייקטיביים: התקדמות, התמדה, אחוזי דיוק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זיהוי מוקדם של תלמידים בסיכון — לפני שמגיעים למבחנים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דוחות מוכנים להורים ולפיקוח — פנים אחת לכל בית הספר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אחסון באירופה (פרנקפורט) — תאימות GDPR + חוק הגנת הפרטיות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ללא פרסומות, ללא מכירת נתונים, ללא רכישות בתוך האפליקציה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נבדק באופן שוטף בבדיקות חדירה (Penetration Tests)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72000" y="8352000"/>
            <a:ext cx="1800000" cy="306000"/>
          </a:xfrm>
          <a:prstGeom prst="round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000" rIns="36000" tIns="18000" bIns="18000"/>
          <a:lstStyle/>
          <a:p>
            <a:pPr algn="ctr" rtl="1"/>
            <a:r>
              <a:rPr sz="1300" b="1">
                <a:solidFill>
                  <a:srgbClr val="FFFFFF"/>
                </a:solidFill>
                <a:latin typeface="Noto Sans Hebrew"/>
              </a:rPr>
              <a:t>צופה פני עתיד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" y="8730000"/>
            <a:ext cx="6983999" cy="216000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פלטפורמה אחת — לכל מקצוע שדורש שינון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המנוע מותאם להרחבה לעברית, ערבית, מדעים, היסטוריה ועוד</a:t>
            </a:r>
          </a:p>
          <a:p>
            <a:pPr algn="r" rtl="1">
              <a:lnSpc>
                <a:spcPct val="140000"/>
              </a:lnSpc>
              <a:spcAft>
                <a:spcPts val="200"/>
              </a:spcAft>
            </a:pPr>
            <a:r>
              <a:rPr sz="1200">
                <a:solidFill>
                  <a:srgbClr val="0F172A"/>
                </a:solidFill>
                <a:latin typeface="Noto Sans Hebrew"/>
              </a:rPr>
              <a:t>•  השקעה בכלי אחד שצומח עם בית הספר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9900000"/>
            <a:ext cx="7560000" cy="792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00" y="10026000"/>
            <a:ext cx="6983999" cy="5400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Noto Sans Hebrew"/>
              </a:rPr>
              <a:t>פיילוט ללא התחייבות — כיתה אחת, חודש שלם, אנחנו עוזרים בהקמה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