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8000" y="0"/>
            <a:ext cx="40680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6000" y="0"/>
            <a:ext cx="4068000" cy="68580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288000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VOCABAND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340000"/>
            <a:ext cx="11160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Noto Sans Arabic"/>
              </a:rPr>
              <a:t>التطبيق الذي يحب الطلاب فتحه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240000"/>
            <a:ext cx="11160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Noto Sans Arabic"/>
              </a:rPr>
              <a:t>منصة رقمية لاكتساب المفردات بالإنجليزية — مصممة للصف الإسرائيلي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5220000"/>
            <a:ext cx="2880000" cy="43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5220000"/>
            <a:ext cx="2880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4F46E5"/>
                </a:solidFill>
                <a:latin typeface="Noto Sans Arabic"/>
              </a:rPr>
              <a:t>عرض تقديمي للمدارس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F43F5E"/>
                </a:solidFill>
                <a:latin typeface="Noto Sans Arabic"/>
              </a:rPr>
              <a:t>المشكلة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43F5E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F43F5E"/>
                </a:solidFill>
                <a:latin typeface="Noto Sans Arabic"/>
              </a:rPr>
              <a:t>01 · المشكلة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Arabic"/>
              </a:rPr>
              <a:t>طالب في الصف التاسع بمفردات الصف السادس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8059" y="1980000"/>
            <a:ext cx="3600000" cy="3240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8059" y="1980000"/>
            <a:ext cx="3600000" cy="144000"/>
          </a:xfrm>
          <a:prstGeom prst="round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8059" y="2304000"/>
            <a:ext cx="3240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1">
                <a:solidFill>
                  <a:srgbClr val="0F172A"/>
                </a:solidFill>
                <a:latin typeface="Noto Sans Arabic"/>
              </a:rPr>
              <a:t>نسيان سريع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8059" y="2880000"/>
            <a:ext cx="324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00" b="0">
                <a:solidFill>
                  <a:srgbClr val="475569"/>
                </a:solidFill>
                <a:latin typeface="Noto Sans Arabic"/>
              </a:rPr>
              <a:t>ينسى الطلاب الكلمات بنفس سرعة تعلُّمها. دون تكرار متنوع، تتلاشى المفردات خلال أسابيع.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6059" y="1980000"/>
            <a:ext cx="3600000" cy="3240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6059" y="1980000"/>
            <a:ext cx="3600000" cy="1440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6059" y="2304000"/>
            <a:ext cx="3240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1">
                <a:solidFill>
                  <a:srgbClr val="0F172A"/>
                </a:solidFill>
                <a:latin typeface="Noto Sans Arabic"/>
              </a:rPr>
              <a:t>فجوات في الصف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6059" y="2880000"/>
            <a:ext cx="324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00" b="0">
                <a:solidFill>
                  <a:srgbClr val="475569"/>
                </a:solidFill>
                <a:latin typeface="Noto Sans Arabic"/>
              </a:rPr>
              <a:t>في نفس الصف — بعضهم يقرأ بطلاقة، وبعضهم لا يزال يكافح. درس واحد لا يناسب 30 مستوى مختلفًا.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4059" y="1980000"/>
            <a:ext cx="3600000" cy="3240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4059" y="1980000"/>
            <a:ext cx="3600000" cy="1440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4059" y="2304000"/>
            <a:ext cx="3240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1">
                <a:solidFill>
                  <a:srgbClr val="0F172A"/>
                </a:solidFill>
                <a:latin typeface="Noto Sans Arabic"/>
              </a:rPr>
              <a:t>عبء على المعلم/ة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4059" y="2880000"/>
            <a:ext cx="324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00" b="0">
                <a:solidFill>
                  <a:srgbClr val="475569"/>
                </a:solidFill>
                <a:latin typeface="Noto Sans Arabic"/>
              </a:rPr>
              <a:t>لا وقت ولا أدوات لتقديم تدريب فردي ومتابعة كل طالب على حدة.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F43F5E"/>
                </a:solidFill>
                <a:latin typeface="Noto Sans Arabic"/>
              </a:rPr>
              <a:t>المشكلة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43F5E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F43F5E"/>
                </a:solidFill>
                <a:latin typeface="Noto Sans Arabic"/>
              </a:rPr>
              <a:t>02 · الواقع اليوم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Arabic"/>
              </a:rPr>
              <a:t>أساليب التعلّم القديمة لم تعد ناجعة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1980000"/>
            <a:ext cx="11520000" cy="1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2070000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F43F5E"/>
                </a:solidFill>
                <a:latin typeface="Noto Sans Arabic"/>
              </a:rPr>
              <a:t>كرّاسات التدريب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2376000"/>
            <a:ext cx="11520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Noto Sans Arabic"/>
              </a:rPr>
              <a:t>طفل يكمل ورقة مفردات مرة في الأسبوع — ينسى 70% خلال شهر. التدريب غير المتنوع لا يبقى في الذاكرة.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" y="2987999"/>
            <a:ext cx="11520000" cy="1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00" y="3077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F43F5E"/>
                </a:solidFill>
                <a:latin typeface="Noto Sans Arabic"/>
              </a:rPr>
              <a:t>الحفظ غيبًا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3383999"/>
            <a:ext cx="11520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Noto Sans Arabic"/>
              </a:rPr>
              <a:t>ينجح مع طفل من عشرة. الباقون يبدؤون بكره اللغة.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3995998"/>
            <a:ext cx="11520000" cy="1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00" y="4085998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F43F5E"/>
                </a:solidFill>
                <a:latin typeface="Noto Sans Arabic"/>
              </a:rPr>
              <a:t>الامتحانات فقط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" y="4391998"/>
            <a:ext cx="11520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Noto Sans Arabic"/>
              </a:rPr>
              <a:t>تقيس ما يعرفه الطالب يوم الامتحان — لا ما عرفه فعلًا وبأي وتيرة تعلَّم.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00" y="5003997"/>
            <a:ext cx="11520000" cy="1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00" y="5093997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F43F5E"/>
                </a:solidFill>
                <a:latin typeface="Noto Sans Arabic"/>
              </a:rPr>
              <a:t>تطبيقات أجنبية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" y="5399997"/>
            <a:ext cx="11520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Noto Sans Arabic"/>
              </a:rPr>
              <a:t>تناسب الطالب الذي يعرف الإنجليزية مسبقًا. أمّا المبتدئ من الصفر — فهي تُشعره بالإحباط.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8B5CF6"/>
                </a:solidFill>
                <a:latin typeface="Noto Sans Arabic"/>
              </a:rPr>
              <a:t>الأسس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5CF6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8B5CF6"/>
                </a:solidFill>
                <a:latin typeface="Noto Sans Arabic"/>
              </a:rPr>
              <a:t>03 · الأسس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Arabic"/>
              </a:rPr>
              <a:t>المبادئ الثلاثة التي بُنيت عليها المنصة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8059" y="1908000"/>
            <a:ext cx="3600000" cy="34200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16059" y="2124000"/>
            <a:ext cx="576000" cy="57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6059" y="2124000"/>
            <a:ext cx="576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4F46E5"/>
                </a:solidFill>
                <a:latin typeface="DejaVu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059" y="2915999"/>
            <a:ext cx="3168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Noto Sans Arabic"/>
              </a:rPr>
              <a:t>علم التعلّم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059" y="3456000"/>
            <a:ext cx="3168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400" b="0">
                <a:solidFill>
                  <a:srgbClr val="FFFFFF"/>
                </a:solidFill>
                <a:latin typeface="Noto Sans Arabic"/>
              </a:rPr>
              <a:t>التكرار المتباعد (Spaced Repetition) + تنويع التدريب. نفس الكلمات، 15 طريقة مختلفة للتدرّب عليها.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6059" y="1908000"/>
            <a:ext cx="3600000" cy="3420000"/>
          </a:xfrm>
          <a:prstGeom prst="round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04059" y="2124000"/>
            <a:ext cx="576000" cy="57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059" y="2124000"/>
            <a:ext cx="576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D946EF"/>
                </a:solidFill>
                <a:latin typeface="DejaVu San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2059" y="2915999"/>
            <a:ext cx="3168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Noto Sans Arabic"/>
              </a:rPr>
              <a:t>تصميم لعبة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2059" y="3456000"/>
            <a:ext cx="3168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400" b="0">
                <a:solidFill>
                  <a:srgbClr val="FFFFFF"/>
                </a:solidFill>
                <a:latin typeface="Noto Sans Arabic"/>
              </a:rPr>
              <a:t>دافعية داخلية بدلًا من الإلزام. نقاط، سلاسل، ألقاب، أفاتارات — آليات تُبقي الطالب ساعات.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4059" y="1908000"/>
            <a:ext cx="3600000" cy="3420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92059" y="2124000"/>
            <a:ext cx="576000" cy="57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92059" y="2124000"/>
            <a:ext cx="576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0B981"/>
                </a:solidFill>
                <a:latin typeface="DejaVu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0059" y="2915999"/>
            <a:ext cx="3168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Noto Sans Arabic"/>
              </a:rPr>
              <a:t>واقع الصف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0059" y="3456000"/>
            <a:ext cx="3168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400" b="0">
                <a:solidFill>
                  <a:srgbClr val="FFFFFF"/>
                </a:solidFill>
                <a:latin typeface="Noto Sans Arabic"/>
              </a:rPr>
              <a:t>أتمتة للمعلم/ة: تصحيح، علامة، تغذية راجعة. تقارير لكل طالب. دون إضافة ساعة عمل أخرى.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8B5CF6"/>
                </a:solidFill>
                <a:latin typeface="Noto Sans Arabic"/>
              </a:rPr>
              <a:t>الأسس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5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5CF6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8B5CF6"/>
                </a:solidFill>
                <a:latin typeface="Noto Sans Arabic"/>
              </a:rPr>
              <a:t>04 · المبدأ الأول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Arabic"/>
              </a:rPr>
              <a:t>نفس الكلمة — 15 طريقة مختلفة للتدريب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980000"/>
            <a:ext cx="64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8B5CF6"/>
                </a:solidFill>
                <a:latin typeface="Noto Sans Arabic"/>
              </a:rPr>
              <a:t>لماذا ينجح هذا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2412000"/>
            <a:ext cx="6480000" cy="360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يلتقي الطالب بالكلمة قراءةً وكتابةً وسماعًا وفي سياق جملة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كل وضع لعب يُشغّل منطقة مختلفة في الدماغ — تتقوّى الذاكرة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التنقّل بين الألعاب يكسر الملل ويحافظ على التركيز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لا يشعر الطالب أنه يكرر الشيء نفسه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لا يحتاج المعلم/ة إلى ابتكار تمارين جديدة</a:t>
            </a:r>
          </a:p>
        </p:txBody>
      </p:sp>
      <p:pic>
        <p:nvPicPr>
          <p:cNvPr id="12" name="Picture 11" descr="scree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000" y="1800000"/>
            <a:ext cx="3060000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8B5CF6"/>
                </a:solidFill>
                <a:latin typeface="Noto Sans Arabic"/>
              </a:rPr>
              <a:t>الأسس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6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5CF6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D946EF"/>
                </a:solidFill>
                <a:latin typeface="Noto Sans Arabic"/>
              </a:rPr>
              <a:t>05 · المبدأ الثاني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Arabic"/>
              </a:rPr>
              <a:t>دافعية داخلية — حتى يعود الطالب غدًا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2160000"/>
            <a:ext cx="6480000" cy="39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كل إجابة صحيحة تمنح نقاط XP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سلسلة يومية تكافئ المثابرة، لا النجاح فحسب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متجر أفاتارات وألقاب وإطارات — تُشترى بالنقاط فقط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حيوان أليف يتطور مع مرور الوقت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منافسات حية مع زملاء الصف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بلا إعلانات، بلا مشتريات بمال حقيقي، بلا ضغط</a:t>
            </a:r>
          </a:p>
        </p:txBody>
      </p:sp>
      <p:pic>
        <p:nvPicPr>
          <p:cNvPr id="11" name="Picture 10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000" y="1800000"/>
            <a:ext cx="3060000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8B5CF6"/>
                </a:solidFill>
                <a:latin typeface="Noto Sans Arabic"/>
              </a:rPr>
              <a:t>الأسس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7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5CF6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10B981"/>
                </a:solidFill>
                <a:latin typeface="Noto Sans Arabic"/>
              </a:rPr>
              <a:t>06 · المبدأ الثالث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Arabic"/>
              </a:rPr>
              <a:t>أتمتة للمعلم/ة — دون إضافة ساعات عمل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2160000"/>
            <a:ext cx="11520000" cy="39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500">
                <a:solidFill>
                  <a:srgbClr val="0F172A"/>
                </a:solidFill>
                <a:latin typeface="Noto Sans Arabic"/>
              </a:rPr>
              <a:t>•  تُصحَّح المهام تلقائيًا، ويحصل الطالب على تغذية راجعة فورية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500">
                <a:solidFill>
                  <a:srgbClr val="0F172A"/>
                </a:solidFill>
                <a:latin typeface="Noto Sans Arabic"/>
              </a:rPr>
              <a:t>•  النظام يضع العلامة ويحفظ سجلًا كاملًا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500">
                <a:solidFill>
                  <a:srgbClr val="0F172A"/>
                </a:solidFill>
                <a:latin typeface="Noto Sans Arabic"/>
              </a:rPr>
              <a:t>•  تقارير التقدم تُنشأ تلقائيًا — لكل طالب، لكل صف، لكل فترة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500">
                <a:solidFill>
                  <a:srgbClr val="0F172A"/>
                </a:solidFill>
                <a:latin typeface="Noto Sans Arabic"/>
              </a:rPr>
              <a:t>•  يرى المعلم/ة من يعاني، من يمل، من يتقدم — دون بحث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500">
                <a:solidFill>
                  <a:srgbClr val="0F172A"/>
                </a:solidFill>
                <a:latin typeface="Noto Sans Arabic"/>
              </a:rPr>
              <a:t>•  تذكيرات تلقائية للطلاب الذين لم يدخلوا هذا الأسبوع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4F46E5"/>
                </a:solidFill>
                <a:latin typeface="Noto Sans Arabic"/>
              </a:rPr>
              <a:t>للمعلم/ة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8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F46E5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4F46E5"/>
                </a:solidFill>
                <a:latin typeface="Noto Sans Arabic"/>
              </a:rPr>
              <a:t>07 · للمعلم/ة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Arabic"/>
              </a:rPr>
              <a:t>تصحيح أقل، تدريس أكثر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980000"/>
            <a:ext cx="648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بناء مهمة في دقيقة — كلمات جاهزة أو قائمتك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صورة لصفحة من الكتاب — تعرّف تلقائي + ترجمة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تصحيح آلي للتمارين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تقارير تقدم لكل طالب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Live Challenge — منافسة بالوقت الحقيقي على الشاشة الكبيرة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Quick Play — نشاط سريع برمز QR، دون تسجيل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نطق وترجمة للعبرية/العربية لكل كلمة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دخول الطلاب برمز الصف — دون عملية تسجيل معقدة</a:t>
            </a:r>
          </a:p>
        </p:txBody>
      </p:sp>
      <p:pic>
        <p:nvPicPr>
          <p:cNvPr id="11" name="Picture 10" descr="scre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000" y="1800000"/>
            <a:ext cx="3060000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F59E0B"/>
                </a:solidFill>
                <a:latin typeface="Noto Sans Arabic"/>
              </a:rPr>
              <a:t>للطالب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9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59E0B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F59E0B"/>
                </a:solidFill>
                <a:latin typeface="Noto Sans Arabic"/>
              </a:rPr>
              <a:t>08 · للطالب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Arabic"/>
              </a:rPr>
              <a:t>تدريب يُحَسّ كأنه لعبة، لا كواجب بيتي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980000"/>
            <a:ext cx="648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15 وضع لعب مختلف على الكلمات نفسها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نقاط XP، سلاسل يومية، مستويات، ألقاب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متجر داخل اللعبة بأفاتارات وإطارات وحزم ألوان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حيوان أليف يتطور مع مرور الوقت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آليات استبقاء: صندوق يومي، تحدٍّ أسبوعي، مكافأة عودة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منافسة حية مع زملاء الصف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ترجمة فورية للعبرية أو العربية عند التعثُّر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نطق لكل كلمة — بنطق صحيح</a:t>
            </a:r>
          </a:p>
        </p:txBody>
      </p:sp>
      <p:pic>
        <p:nvPicPr>
          <p:cNvPr id="11" name="Picture 10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000" y="1800000"/>
            <a:ext cx="3060000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D946EF"/>
                </a:solidFill>
                <a:latin typeface="Noto Sans Arabic"/>
              </a:rPr>
              <a:t>للمدير/ة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10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46EF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D946EF"/>
                </a:solidFill>
                <a:latin typeface="Noto Sans Arabic"/>
              </a:rPr>
              <a:t>09 · للمدير/ة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Arabic"/>
              </a:rPr>
              <a:t>تحكم، رقابة، بيانات — لا أحاسيس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980000"/>
            <a:ext cx="648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لوحة تحكم واحدة لجميع صفوف المدرسة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بيانات موضوعية عن كل طالب وكل صف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رصد مبكر للطلاب المعرَّضين للخطر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تقارير جاهزة للأهل وللإشراف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مقارنة بين الصفوف وعلى مرّ الزمن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منصة واحدة، دون برامج للتثبيت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بلا إعلانات، بلا مشتريات داخل التطبيق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400">
                <a:solidFill>
                  <a:srgbClr val="0F172A"/>
                </a:solidFill>
                <a:latin typeface="Noto Sans Arabic"/>
              </a:rPr>
              <a:t>•  قابلة للتوسع لكل المدرسة دون بنية تحتية إضافية</a:t>
            </a:r>
          </a:p>
        </p:txBody>
      </p:sp>
      <p:pic>
        <p:nvPicPr>
          <p:cNvPr id="11" name="Picture 10" descr="scree3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000" y="1800000"/>
            <a:ext cx="3060000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10B981"/>
                </a:solidFill>
                <a:latin typeface="Noto Sans Arabic"/>
              </a:rPr>
              <a:t>أمان وخصوصية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11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0B981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10B981"/>
                </a:solidFill>
                <a:latin typeface="Noto Sans Arabic"/>
              </a:rPr>
              <a:t>10 · أمان وخصوصية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Arabic"/>
              </a:rPr>
              <a:t>توافق كامل مع القانون الإسرائيلي والمعيار الأوروبي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2059" y="1980000"/>
            <a:ext cx="5580000" cy="1980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2059" y="1980000"/>
            <a:ext cx="144000" cy="1980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058" y="2231999"/>
            <a:ext cx="5076001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Noto Sans Arabic"/>
              </a:rPr>
              <a:t>تخزين في أوروبا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058" y="2772000"/>
            <a:ext cx="5076001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400" b="0">
                <a:solidFill>
                  <a:srgbClr val="475569"/>
                </a:solidFill>
                <a:latin typeface="Noto Sans Arabic"/>
              </a:rPr>
              <a:t>تُخزَّن جميع البيانات في فرانكفورت. توافق كامل مع GDPR.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0059" y="1980000"/>
            <a:ext cx="5580000" cy="1980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0059" y="1980000"/>
            <a:ext cx="144000" cy="1980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058" y="2231999"/>
            <a:ext cx="5076001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Noto Sans Arabic"/>
              </a:rPr>
              <a:t>قانون حماية الخصوصية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058" y="2772000"/>
            <a:ext cx="5076001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400" b="0">
                <a:solidFill>
                  <a:srgbClr val="475569"/>
                </a:solidFill>
                <a:latin typeface="Noto Sans Arabic"/>
              </a:rPr>
              <a:t>نتقيد بقانون حماية الخصوصية الإسرائيلي وبالتعديل 13.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2059" y="4248000"/>
            <a:ext cx="5580000" cy="1980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2059" y="4248000"/>
            <a:ext cx="144000" cy="1980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058" y="4499999"/>
            <a:ext cx="5076001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Noto Sans Arabic"/>
              </a:rPr>
              <a:t>بلا إعلانات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058" y="5040000"/>
            <a:ext cx="5076001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400" b="0">
                <a:solidFill>
                  <a:srgbClr val="475569"/>
                </a:solidFill>
                <a:latin typeface="Noto Sans Arabic"/>
              </a:rPr>
              <a:t>لا إعلانات، لا طرف ثالث، لا بيع للبيانات.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059" y="4248000"/>
            <a:ext cx="5580000" cy="1980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40059" y="4248000"/>
            <a:ext cx="144000" cy="1980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058" y="4499999"/>
            <a:ext cx="5076001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Noto Sans Arabic"/>
              </a:rPr>
              <a:t>اختبارات اختراق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058" y="5040000"/>
            <a:ext cx="5076001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400" b="0">
                <a:solidFill>
                  <a:srgbClr val="475569"/>
                </a:solidFill>
                <a:latin typeface="Noto Sans Arabic"/>
              </a:rPr>
              <a:t>يُختبر النظام بانتظام في اختبارات اختراق خارجية.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12119" y="0"/>
            <a:ext cx="180000" cy="68580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660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>
                <a:solidFill>
                  <a:srgbClr val="D946EF"/>
                </a:solidFill>
                <a:latin typeface="Noto Sans Arabic"/>
              </a:rPr>
              <a:t>الرؤية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6660000"/>
            <a:ext cx="30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DejaVu Sans"/>
              </a:rPr>
              <a:t>12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44000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46EF"/>
                </a:solidFill>
                <a:latin typeface="DejaVu Sans"/>
              </a:rPr>
              <a:t>VOCABAND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503999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>
                <a:solidFill>
                  <a:srgbClr val="D946EF"/>
                </a:solidFill>
                <a:latin typeface="Noto Sans Arabic"/>
              </a:rPr>
              <a:t>11 · الرؤية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756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Noto Sans Arabic"/>
              </a:rPr>
              <a:t>الإنجليزية اليوم — أي مادة تتطلب الحفظ، غدًا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980000"/>
            <a:ext cx="115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800" b="0">
                <a:solidFill>
                  <a:srgbClr val="475569"/>
                </a:solidFill>
                <a:latin typeface="Noto Sans Arabic"/>
              </a:rPr>
              <a:t>المحرك الذي بنيناه لمفردات الإنجليزية يناسب أي مجال يتطلب الحفظ والاستيعاب.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00" y="3240000"/>
            <a:ext cx="11520000" cy="4680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00" y="3240000"/>
            <a:ext cx="11520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Noto Sans Arabic"/>
              </a:rPr>
              <a:t>العبرية كلغة ثانية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00" y="3798000"/>
            <a:ext cx="11520000" cy="4680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00" y="3798000"/>
            <a:ext cx="11520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Noto Sans Arabic"/>
              </a:rPr>
              <a:t>العربية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00" y="4356000"/>
            <a:ext cx="11520000" cy="468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00" y="4356000"/>
            <a:ext cx="11520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Noto Sans Arabic"/>
              </a:rPr>
              <a:t>مفردات في العلوم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00" y="4914000"/>
            <a:ext cx="11520000" cy="4680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00" y="4914000"/>
            <a:ext cx="11520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Noto Sans Arabic"/>
              </a:rPr>
              <a:t>مفاهيم في التاريخ والتناخ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00" y="5472000"/>
            <a:ext cx="11520000" cy="468000"/>
          </a:xfrm>
          <a:prstGeom prst="round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00" y="5472000"/>
            <a:ext cx="11520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Noto Sans Arabic"/>
              </a:rPr>
              <a:t>لغة ثالثة — فرنسية، إسبانية، روسية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8000" y="0"/>
            <a:ext cx="813600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6000" y="0"/>
            <a:ext cx="4068000" cy="685800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288000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VOCABAND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980000"/>
            <a:ext cx="11160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Noto Sans Arabic"/>
              </a:rPr>
              <a:t>كيف نبدأ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3060000"/>
            <a:ext cx="900000" cy="72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3060000"/>
            <a:ext cx="9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4F46E5"/>
                </a:solidFill>
                <a:latin typeface="DejaVu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8000" y="3060000"/>
            <a:ext cx="1008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Noto Sans Arabic"/>
              </a:rPr>
              <a:t>لقاء تعارف قصير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8000" y="3420000"/>
            <a:ext cx="10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Noto Sans Arabic"/>
              </a:rPr>
              <a:t>نتعرّف على المدرسة واحتياجاتكم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3887999"/>
            <a:ext cx="900000" cy="72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3887999"/>
            <a:ext cx="9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4F46E5"/>
                </a:solidFill>
                <a:latin typeface="DejaVu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48000" y="3887999"/>
            <a:ext cx="1008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Noto Sans Arabic"/>
              </a:rPr>
              <a:t>نختار صفًا واحدًا للتجربة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8000" y="4247999"/>
            <a:ext cx="10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Noto Sans Arabic"/>
              </a:rPr>
              <a:t>تختارون المعلم/ة، ونحن نُعدّ الصف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4715998"/>
            <a:ext cx="900000" cy="72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4715998"/>
            <a:ext cx="9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4F46E5"/>
                </a:solidFill>
                <a:latin typeface="DejaVu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8000" y="4715998"/>
            <a:ext cx="1008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Noto Sans Arabic"/>
              </a:rPr>
              <a:t>شهر كامل من الاستخدام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8000" y="5075998"/>
            <a:ext cx="10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Noto Sans Arabic"/>
              </a:rPr>
              <a:t>دون التزام، دون دفع، بمتابعة قريبة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5543997"/>
            <a:ext cx="900000" cy="72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0" y="5543997"/>
            <a:ext cx="9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4F46E5"/>
                </a:solidFill>
                <a:latin typeface="DejaVu San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48000" y="5543997"/>
            <a:ext cx="1008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Noto Sans Arabic"/>
              </a:rPr>
              <a:t>نقرر معًا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8000" y="5903997"/>
            <a:ext cx="10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Noto Sans Arabic"/>
              </a:rPr>
              <a:t>إن نجحت — نوسّع. وإلا — لا نُكمل.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8000"/>
            <a:ext cx="115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VOCABAND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520000"/>
            <a:ext cx="11160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7200" b="1">
                <a:solidFill>
                  <a:srgbClr val="FFFFFF"/>
                </a:solidFill>
                <a:latin typeface="Noto Sans Arabic"/>
              </a:rPr>
              <a:t>شكرًا.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4140000"/>
            <a:ext cx="11160000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0">
                <a:solidFill>
                  <a:srgbClr val="94A3B8"/>
                </a:solidFill>
                <a:latin typeface="Noto Sans Arabic"/>
              </a:rPr>
              <a:t>يسعدنا أن نُريكم النظام في لقاء قصير.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860000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F59E0B"/>
                </a:solidFill>
                <a:latin typeface="DejaVu Sans"/>
              </a:rPr>
              <a:t>www.vocaband.com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